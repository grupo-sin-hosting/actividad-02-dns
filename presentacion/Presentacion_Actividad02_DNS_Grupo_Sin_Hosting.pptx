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68cdc7f-7392-6cec-0a1c-5fd4353fabe7}">
          <p14:sldIdLst>
            <p14:sldId id="256"/>
          </p14:sldIdLst>
        </p14:section>
        <p14:section name="Arquitectura" id="{cfec019e-d75c-7bd3-13aa-e52d4495f059}">
          <p14:sldIdLst>
            <p14:sldId id="257"/>
          </p14:sldIdLst>
        </p14:section>
        <p14:section name="Laboratorio 6" id="{30a4080b-43fc-efb9-5183-46b5e91d1dc9}">
          <p14:sldIdLst>
            <p14:sldId id="258"/>
            <p14:sldId id="259"/>
          </p14:sldIdLst>
        </p14:section>
        <p14:section name="Laboratorio 7" id="{78424e45-3e28-a93c-670d-68c2a525a89b}">
          <p14:sldIdLst>
            <p14:sldId id="260"/>
            <p14:sldId id="261"/>
          </p14:sldIdLst>
        </p14:section>
        <p14:section name="Laboratorio 8" id="{a1cda361-5fc3-3df3-98b2-b539afb354f2}">
          <p14:sldIdLst>
            <p14:sldId id="262"/>
            <p14:sldId id="263"/>
            <p14:sldId id="264"/>
            <p14:sldId id="265"/>
          </p14:sldIdLst>
        </p14:section>
        <p14:section name="Resultados" id="{ab4fa2c1-44b2-456b-8b43-c8cac0801357}">
          <p14:sldIdLst>
            <p14:sldId id="266"/>
          </p14:sldIdLst>
        </p14:section>
        <p14:section name="Comparación" id="{b89369d5-a9e5-b63c-2f5f-76c953bcaacb}">
          <p14:sldIdLst>
            <p14:sldId id="267"/>
            <p14:sldId id="268"/>
          </p14:sldIdLst>
        </p14:section>
        <p14:section name="Defensa" id="{2c323f13-3204-6e1a-2f6f-0fb45c3bbc4e}">
          <p14:sldIdLst>
            <p14:sldId id="269"/>
          </p14:sldIdLst>
        </p14:section>
        <p14:section name="Cierre" id="{c04c542c-aa63-4ac3-35ef-53ae3710265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grupo y del objetivo: configurar el DNS autoritativo del dominio de laboratorio horizonte.internal y demostrar con dig que todos los registros resuelven desde un cliente que usa el DNS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ARQUITECTURA. El problema: las PCs usaban el DNS del proveedor, que no conoce horizonte.internal, no filtra y ve todo. Solución: 4 contenedores Ubuntu 24.04 con systemd en 10.10.10.0/24. ns1 primario y ns2 secundario (BIND 9.18) son la verdad de la zona; el resolutor Unbound es el único que usan las PCs; pregunta a ns1/ns2 por lo interno (stub-zone) y sale cifrado a internet (DoT 853).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 +trace +nodnssec @1.1.1.1 www.upds.edu.bo. Cada nivel no responde: entrega una referencia (delegación). Raíz (m.root) → .bo (NIC Bolivia, ns.nic.bo) → upds.edu.bo (Megalink, ns5) que responde con autoridad A 35.212.117.103. edu.bo no tiene servidores propios: es parte de la zona .bo.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DIAGNÓSTICO. radiografia_dns.sh (4 TODO completados) y verificar_lab06.sh 12/12. upds.edu.bo 6/12: delegación coja (.bo delega en ns6 que no responde con autoridad), RNAME del SOA sin punto final, sin CAA ni DNSSEC. Cloudflare 12/12. Son los mismos errores que cuidamos al escribir nuestras zonas.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REGISTROS. Regla de oro: sin punto final el nombre se completa con $ORIGIN; con punto final es absoluto. Registros: NS ns1/ns2, A www 10.10.10.20, CNAME portal→www, MX 10 mail, mail A 10.10.10.25, TXT SPF v=spf1 mx -all, CAA 0 issue "horizonte.internal" (la CA del Lab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DIAGNÓSTICO. El instalador corre named-checkconf y named-checkzone con set -euo pipefail ANTES de rndc reload: si algo falla, BIND no se recarga con errores. Captura final: named-checkconf OK en ns1 y ns2, zona directa serial 2026100703 OK, inversa 2026100701 OK. Lección: un MX sin punto final pasa con OK pero con un aviso; hay que leer los avisos.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SINCRONIZACIÓN. Zona inversa 10.10.10.in-addr.arpa con PTR 20→www y 25→mail. ns2 es secundario de ambas zonas. allow-transfer { key "transferencia-horizonte"; } en ns1 y server 10.10.10.2 { keys {...}; } en ns2. AXFR sin clave: Transfer failed. Con clave: zona completa por TCP con registro TSIG (la firma, no el secreto). El secreto nunca se mostró ni se sube a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SINCRONIZACIÓN. 0702 con biblioteca: NOTIFY 08:44:33, transferencia completada 08:44:34 (18 registros, 0,008 s). cafeteria sin subir serial: ns2 dice zone is up to date y queda desincronizado. Subiendo a 0703: se sincroniza. Si ns1 cae más que el expire (2 semanas), ns2 deja de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RESOLUTOR. access-control solo 127.0.0.0/8 y 10.10.10.0/24 (no es resolutor abierto). Trampa 1: .internal no existe en la raíz firmada → SERVFAIL hasta domain-insecure. Trampa 2: Unbound bloquea 10.in-addr.arpa → local-zone nodefault. DoT: antes se veía "A? www.wikipedia.org" por el 53; después solo TCP 853 cifrado a 1.1.1.1 y 9.9.9.9.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RESOLUTOR. En el cliente: echo "nameserver 10.10.10.4" &gt; /etc/resolv.conf (antes 127.0.0.11, el DNS de Docker). Sin @: www.horizonte.internal → 10.10.10.20, www.upds.edu.bo → 35.212.117.103, apuestas → NXDOMAIN (RPZ), getent hosts portal → 10.10.10.20. RPZ: apuestas NXDOMAIN, phishing redirigido a 10.10.10.20, rastreador NODATA, todo registrado en el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DIAGNÓSTICO. 12/12 Lab 6, 16/16 Lab 7 (desde el cliente: registros, inversa, NXDOMAIN, ns2, serial, TSIG, recursión, versión), 17/17 Lab 8 (stub-zones, inversa, DNSSEC ad/SERVFAIL, RPZ x4, caché, versión oculta, acceso, DoT, DNSControl). En la primera corrida del Lab 8 salió 16/17 en caché: leímos el script, la primera consulta tardó por reabrir TLS; al repetir, 17/17.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basada en Microsoft Learn. Windows: zonas integradas en Active Directory, replicación multimaestro con AD, actualizaciones dinámicas seguras solo en zonas AD, DNSSEC desde 2012, directivas DNS desde 2016. Nuestra solución: gratis, archivos versionables en Git, TSIG, RPZ estándar, autoritativo y resolutor separados. Si el colegio adopta AD, Windows DNS para la zona interna y Unbound como resolutor.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(Claude) se usó para sintaxis, hipótesis de diagnóstico y borradores; todo se comprobó con dig, tcpdump, named-checkzone o los verificadores. Reglas cumplidas: nunca se pegó el secreto TSIG ni archivos .key, el resolutor no se abrió a cualquier IP, la RPZ solo tiene dominios de la guía, sin tokens en creds.json. .gitignore excluye transferencia.key, creds.reales.json y *.pcap.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 exposición: Arquitectura (Lucas) → Registros (Jacqueline) → Sincronización (José María) → Resolutor (Lizeth) → Diagnóstico (Juniors y Limber, que se reparten: Juniors el Lab 6 y la validación; Limber los verificadores, el cuadro de Windows y el cierre).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todos los registros resuelven desde el cliente (12/12, 16/16, 17/17).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Actividad 02 · DNS moderno con BIND9 · Grupo Sin Hosting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upo-Sin-Hosting/Actividad-02-DN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moderno con BIND9 para la U.E. Horizonte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Actividad 02 · Laboratorios 6, 7 y 8 · Tecnología Web I (SIS-0150)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Grupo Sin Hosting: Jacqueline Cáceres · Lucas Carrasco · José María Orihuela · Juniors Parapaino · Limber Quispe · Lizeth Rodríguez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Docente: M.Sc. Ing. Jimmy Nataniel Requena Llorentty · UPDS · 19/10/2026 · github.com/Grupo-Sin-Hosting/Actividad-02-DNS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DNS propio, redundante y privado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Arquitectura</a:t>
            </a:r>
            <a:endParaRPr lang="en-US" sz="1300" dirty="0"/>
          </a:p>
        </p:txBody>
      </p:sp>
      <p:pic>
        <p:nvPicPr>
          <p:cNvPr id="6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926301"/>
          </a:xfrm>
          <a:prstGeom prst="rect">
            <a:avLst/>
          </a:prstGeom>
        </p:spPr>
      </p:pic>
      <p:sp>
        <p:nvSpPr>
          <p:cNvPr id="7" name="Tarjeta Antes"/>
          <p:cNvSpPr/>
          <p:nvPr/>
        </p:nvSpPr>
        <p:spPr>
          <a:xfrm>
            <a:off x="8503920" y="1325880"/>
            <a:ext cx="3154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unto Antes"/>
          <p:cNvSpPr/>
          <p:nvPr/>
        </p:nvSpPr>
        <p:spPr>
          <a:xfrm>
            <a:off x="8732520" y="158191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0" y="1490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Antes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20116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DNS del proveedor: no conoce horizonte.internal, no filtra y ve cada sitio consultado.</a:t>
            </a:r>
            <a:endParaRPr lang="en-US" sz="1400" dirty="0"/>
          </a:p>
        </p:txBody>
      </p:sp>
      <p:sp>
        <p:nvSpPr>
          <p:cNvPr id="11" name="Tarjeta Ahora"/>
          <p:cNvSpPr/>
          <p:nvPr/>
        </p:nvSpPr>
        <p:spPr>
          <a:xfrm>
            <a:off x="8503920" y="3794760"/>
            <a:ext cx="3154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nto Ahora"/>
          <p:cNvSpPr/>
          <p:nvPr/>
        </p:nvSpPr>
        <p:spPr>
          <a:xfrm>
            <a:off x="8732520" y="405079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0" y="3959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Ahora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778240" y="448056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ns1 + ns2 autoritativos y un resolutor propio con caché, DNSSEC, DoT y RPZ.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· El DNS real en 4 saltos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Arquitectura</a:t>
            </a:r>
            <a:endParaRPr lang="en-US" sz="1300" dirty="0"/>
          </a:p>
        </p:txBody>
      </p:sp>
      <p:pic>
        <p:nvPicPr>
          <p:cNvPr id="6" name="Diagrama de jerarquía DNS" descr="Diagrama de jerarquía D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863840" cy="37249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1325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saltos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8778240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resolutor → raíz → .bo → autoritativo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331 ms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4023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 salto más lento: el autoritativo de Megalink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Cada nivel entrega una referencia, no la respuesta.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· Errores reales que evitamos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Diagnóstico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upds.edu.bo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325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cloudflare.com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325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verificar_lab06.sh</a:t>
            </a:r>
            <a:endParaRPr lang="en-US" sz="1400" dirty="0"/>
          </a:p>
        </p:txBody>
      </p:sp>
      <p:sp>
        <p:nvSpPr>
          <p:cNvPr id="12" name="Tarjeta Delegación coja"/>
          <p:cNvSpPr/>
          <p:nvPr/>
        </p:nvSpPr>
        <p:spPr>
          <a:xfrm>
            <a:off x="548640" y="35661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Delegación coja"/>
          <p:cNvSpPr/>
          <p:nvPr/>
        </p:nvSpPr>
        <p:spPr>
          <a:xfrm>
            <a:off x="777240" y="382219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307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Delegación coja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.bo delega en ns6.megalink.com, pero la zona ya no lo declara y no responde con autoridad (aa).</a:t>
            </a:r>
            <a:endParaRPr lang="en-US" sz="1400" dirty="0"/>
          </a:p>
        </p:txBody>
      </p:sp>
      <p:sp>
        <p:nvSpPr>
          <p:cNvPr id="16" name="Tarjeta Sin punto final"/>
          <p:cNvSpPr/>
          <p:nvPr/>
        </p:nvSpPr>
        <p:spPr>
          <a:xfrm>
            <a:off x="4343400" y="35661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unto Sin punto final"/>
          <p:cNvSpPr/>
          <p:nvPr/>
        </p:nvSpPr>
        <p:spPr>
          <a:xfrm>
            <a:off x="4572000" y="382219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83480" y="37307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 punto final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RNAME del SOA termina en .megalink.com.upds.edu.bo.: BIND le agregó el origen de la zona.</a:t>
            </a:r>
            <a:endParaRPr lang="en-US" sz="1400" dirty="0"/>
          </a:p>
        </p:txBody>
      </p:sp>
      <p:pic>
        <p:nvPicPr>
          <p:cNvPr id="20" name="Radiografía de upds.edu.bo" descr="Radiografía de upds.edu.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3429000" cy="21467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· Zona directa horizonte.internal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Registros</a:t>
            </a:r>
            <a:endParaRPr lang="en-US" sz="1300" dirty="0"/>
          </a:p>
        </p:txBody>
      </p:sp>
      <p:graphicFrame>
        <p:nvGraphicFramePr>
          <p:cNvPr id="6" name="Tabla de regist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274320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Nombre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Para qué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www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10.10.10.20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Sitio web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portal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CNAME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www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Alias del sitio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 mail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Recibir correo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10.10.10.25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Servidor de correo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TXT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v=spf1 mx -all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Solo el MX envía correo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 issue "horizonte.internal"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Solo la CA del colegio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ns1, ns2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Autoritativos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arjeta Sin punto → relativo"/>
          <p:cNvSpPr/>
          <p:nvPr/>
        </p:nvSpPr>
        <p:spPr>
          <a:xfrm>
            <a:off x="813816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unto Sin punto → relativo"/>
          <p:cNvSpPr/>
          <p:nvPr/>
        </p:nvSpPr>
        <p:spPr>
          <a:xfrm>
            <a:off x="8366760" y="16276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7824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 punto → relativo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20574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mail se vuelve mail.horizonte.internal. gracias a $ORIGIN.</a:t>
            </a:r>
            <a:endParaRPr lang="en-US" sz="1400" dirty="0"/>
          </a:p>
        </p:txBody>
      </p:sp>
      <p:sp>
        <p:nvSpPr>
          <p:cNvPr id="11" name="Tarjeta Con punto → absoluto"/>
          <p:cNvSpPr/>
          <p:nvPr/>
        </p:nvSpPr>
        <p:spPr>
          <a:xfrm>
            <a:off x="8138160" y="37490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nto Con punto → absoluto"/>
          <p:cNvSpPr/>
          <p:nvPr/>
        </p:nvSpPr>
        <p:spPr>
          <a:xfrm>
            <a:off x="8366760" y="400507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78240" y="39136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 punto → absoluto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4348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la inversa, www.horizonte.internal. necesita el punto o queda mal escrito.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· Validar antes de aplicar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Diagnóstico</a:t>
            </a:r>
            <a:endParaRPr lang="en-US" sz="1300" dirty="0"/>
          </a:p>
        </p:txBody>
      </p:sp>
      <p:pic>
        <p:nvPicPr>
          <p:cNvPr id="6" name="Captura de named-checkconf y named-checkzone" descr="Captura de named-checkconf y named-checkz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2548128"/>
          </a:xfrm>
          <a:prstGeom prst="rect">
            <a:avLst/>
          </a:prstGeom>
        </p:spPr>
      </p:pic>
      <p:sp>
        <p:nvSpPr>
          <p:cNvPr id="7" name="Fondo de código"/>
          <p:cNvSpPr/>
          <p:nvPr/>
        </p:nvSpPr>
        <p:spPr>
          <a:xfrm>
            <a:off x="548640" y="4297680"/>
            <a:ext cx="694944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407408"/>
            <a:ext cx="65836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instalar_ns1.sh — validar ANTES de aplicar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named-checkconf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named-checkzone horizonte.internal 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named-checkzone 10.10.10.in-addr.arpa 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rndc reload</a:t>
            </a:r>
            <a:endParaRPr lang="en-US" sz="1400" dirty="0"/>
          </a:p>
        </p:txBody>
      </p:sp>
      <p:sp>
        <p:nvSpPr>
          <p:cNvPr id="9" name="Tarjeta named-checkconf"/>
          <p:cNvSpPr/>
          <p:nvPr/>
        </p:nvSpPr>
        <p:spPr>
          <a:xfrm>
            <a:off x="7863840" y="1371600"/>
            <a:ext cx="3794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unto named-checkconf"/>
          <p:cNvSpPr/>
          <p:nvPr/>
        </p:nvSpPr>
        <p:spPr>
          <a:xfrm>
            <a:off x="809244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03920" y="1536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named-checkconf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20574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Revisa named.conf y sus archivos incluidos. Si todo está bien, no imprime nada.</a:t>
            </a:r>
            <a:endParaRPr lang="en-US" sz="1400" dirty="0"/>
          </a:p>
        </p:txBody>
      </p:sp>
      <p:sp>
        <p:nvSpPr>
          <p:cNvPr id="13" name="Tarjeta Lee los avisos"/>
          <p:cNvSpPr/>
          <p:nvPr/>
        </p:nvSpPr>
        <p:spPr>
          <a:xfrm>
            <a:off x="7863840" y="3840480"/>
            <a:ext cx="3794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unto Lee los avisos"/>
          <p:cNvSpPr/>
          <p:nvPr/>
        </p:nvSpPr>
        <p:spPr>
          <a:xfrm>
            <a:off x="8092440" y="409651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03920" y="40050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Lee los avisos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4526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MX sin punto final dio "has no address records"… y aun así 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 · Inversa y secundario con TSIG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Sincronización</a:t>
            </a:r>
            <a:endParaRPr lang="en-US" sz="1300" dirty="0"/>
          </a:p>
        </p:txBody>
      </p:sp>
      <p:pic>
        <p:nvPicPr>
          <p:cNvPr id="6" name="AXFR sin y con clave TSIG" descr="AXFR sin y con clave TS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2856334"/>
          </a:xfrm>
          <a:prstGeom prst="rect">
            <a:avLst/>
          </a:prstGeom>
        </p:spPr>
      </p:pic>
      <p:sp>
        <p:nvSpPr>
          <p:cNvPr id="7" name="Fondo de código"/>
          <p:cNvSpPr/>
          <p:nvPr/>
        </p:nvSpPr>
        <p:spPr>
          <a:xfrm>
            <a:off x="548640" y="4617720"/>
            <a:ext cx="72237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727448"/>
            <a:ext cx="68580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ns1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allow-transfer { key "transferencia-horizonte";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also-notify { 10.10.10.3;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ns2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10.10.10.2 { keys { "transferencia-horizonte"; }; };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1325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Rechazado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22860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AXFR sin la clave: Transfer failed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108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registros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069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AXFR con la clave, firmado con TSIG por TCP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5120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PTR: 10.10.10.25 → mail.horizonte.internal.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 · NOTIFY y el serial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Sincronización</a:t>
            </a:r>
            <a:endParaRPr lang="en-US" sz="1300" dirty="0"/>
          </a:p>
        </p:txBody>
      </p:sp>
      <p:sp>
        <p:nvSpPr>
          <p:cNvPr id="6" name="Paso 1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2026100702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biblioteca + serial nuevo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NOTIFY → ns2 copia en 1 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Paso 2"/>
          <p:cNvSpPr/>
          <p:nvPr/>
        </p:nvSpPr>
        <p:spPr>
          <a:xfrm>
            <a:off x="434340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2026100702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cafeteria SIN subir serial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"zone is up to date": ns2 no la ve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Paso 3"/>
          <p:cNvSpPr/>
          <p:nvPr/>
        </p:nvSpPr>
        <p:spPr>
          <a:xfrm>
            <a:off x="813816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2026100703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serial corregido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ns2 se sincroniza (19 registros)</a:t>
            </a:r>
            <a:endParaRPr lang="en-US" sz="1400" dirty="0"/>
          </a:p>
        </p:txBody>
      </p:sp>
      <p:pic>
        <p:nvPicPr>
          <p:cNvPr id="20" name="Journal de ns2 con transferencias TSIG" descr="Journal de ns2 con transferencias TS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174" y="3611880"/>
            <a:ext cx="6691172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 · Unbound: trampas y DoT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Resolutor</a:t>
            </a:r>
            <a:endParaRPr lang="en-US" sz="1300" dirty="0"/>
          </a:p>
        </p:txBody>
      </p:sp>
      <p:sp>
        <p:nvSpPr>
          <p:cNvPr id="6" name="Tarjeta Trampa 1 · DNSSEC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unto Trampa 1 · DNSSEC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Trampa 1 · DNSSEC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574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.internal no existe en la raíz firmada → SERVFAIL. Solución: domain-insecure.</a:t>
            </a:r>
            <a:endParaRPr lang="en-US" sz="1400" dirty="0"/>
          </a:p>
        </p:txBody>
      </p:sp>
      <p:sp>
        <p:nvSpPr>
          <p:cNvPr id="10" name="Tarjeta Trampa 2 · inversas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unto Trampa 2 · inversas"/>
          <p:cNvSpPr/>
          <p:nvPr/>
        </p:nvSpPr>
        <p:spPr>
          <a:xfrm>
            <a:off x="777240" y="409651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Trampa 2 · inversas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Unbound bloquea 10.in-addr.arpa → -x vacío. Solución: local-zone nodefault.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132588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Sin DoT · puerto 53, en claro</a:t>
            </a:r>
            <a:endParaRPr lang="en-US" sz="1500" dirty="0"/>
          </a:p>
        </p:txBody>
      </p:sp>
      <p:pic>
        <p:nvPicPr>
          <p:cNvPr id="15" name="tcpdump sin DoT" descr="tcpdump sin D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37360"/>
            <a:ext cx="7178040" cy="147110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80560" y="37947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Con DoT · TCP 853, cifrado</a:t>
            </a:r>
            <a:endParaRPr lang="en-US" sz="1500" dirty="0"/>
          </a:p>
        </p:txBody>
      </p:sp>
      <p:pic>
        <p:nvPicPr>
          <p:cNvPr id="17" name="tcpdump con DoT" descr="tcpdump con 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837" y="4206240"/>
            <a:ext cx="6313487" cy="1965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 · El cliente usa el DNS propio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Resolutor</a:t>
            </a:r>
            <a:endParaRPr lang="en-US" sz="1300" dirty="0"/>
          </a:p>
        </p:txBody>
      </p:sp>
      <p:pic>
        <p:nvPicPr>
          <p:cNvPr id="6" name="El cliente usa el resolutor" descr="El cliente usa el resolu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7356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49440" y="1371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dig sin @ desde el cliente</a:t>
            </a:r>
            <a:endParaRPr lang="en-US" sz="1700" dirty="0"/>
          </a:p>
        </p:txBody>
      </p:sp>
      <p:sp>
        <p:nvSpPr>
          <p:cNvPr id="8" name="Resultado www.horizonte.internal"/>
          <p:cNvSpPr/>
          <p:nvPr/>
        </p:nvSpPr>
        <p:spPr>
          <a:xfrm>
            <a:off x="6949440" y="1920240"/>
            <a:ext cx="4709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78040" y="1993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www.horizonte.internal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2331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10.10.10.20</a:t>
            </a:r>
            <a:endParaRPr lang="en-US" sz="1800" dirty="0"/>
          </a:p>
        </p:txBody>
      </p:sp>
      <p:sp>
        <p:nvSpPr>
          <p:cNvPr id="11" name="Resultado www.upds.edu.bo"/>
          <p:cNvSpPr/>
          <p:nvPr/>
        </p:nvSpPr>
        <p:spPr>
          <a:xfrm>
            <a:off x="6949440" y="2944368"/>
            <a:ext cx="4709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178040" y="3017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www.upds.edu.bo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33558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35.212.117.103</a:t>
            </a:r>
            <a:endParaRPr lang="en-US" sz="1800" dirty="0"/>
          </a:p>
        </p:txBody>
      </p:sp>
      <p:sp>
        <p:nvSpPr>
          <p:cNvPr id="14" name="Resultado www.apuestas-ejemplo.com"/>
          <p:cNvSpPr/>
          <p:nvPr/>
        </p:nvSpPr>
        <p:spPr>
          <a:xfrm>
            <a:off x="6949440" y="3968496"/>
            <a:ext cx="4709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7804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www.apuestas-ejemplo.com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43799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NXDOMAIN (RPZ)</a:t>
            </a:r>
            <a:endParaRPr lang="en-US" sz="1800" dirty="0"/>
          </a:p>
        </p:txBody>
      </p:sp>
      <p:sp>
        <p:nvSpPr>
          <p:cNvPr id="17" name="Resultado getent hosts portal…"/>
          <p:cNvSpPr/>
          <p:nvPr/>
        </p:nvSpPr>
        <p:spPr>
          <a:xfrm>
            <a:off x="6949440" y="4992624"/>
            <a:ext cx="4709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178040" y="5065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getent hosts portal…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178040" y="54041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10.10.10.20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verificadores al 100 %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Diagnóstico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6 · radiografía DNS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7 · BIND9 primario y secundario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17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8 · resolutor y DNS como código</a:t>
            </a:r>
            <a:endParaRPr lang="en-US" sz="1400" dirty="0"/>
          </a:p>
        </p:txBody>
      </p:sp>
      <p:pic>
        <p:nvPicPr>
          <p:cNvPr id="12" name="verificar_lab07 16 de 16" descr="verificar_lab07 16 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6766560" cy="2395481"/>
          </a:xfrm>
          <a:prstGeom prst="rect">
            <a:avLst/>
          </a:prstGeom>
        </p:spPr>
      </p:pic>
      <p:pic>
        <p:nvPicPr>
          <p:cNvPr id="13" name="verificar_lab08 17 de 17" descr="verificar_lab08 17 de 1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481" y="3200400"/>
            <a:ext cx="3929158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BIND9 + Unbound vs. Windows Server</a:t>
            </a:r>
            <a:endParaRPr lang="en-US" sz="3000" dirty="0"/>
          </a:p>
        </p:txBody>
      </p:sp>
      <p:graphicFrame>
        <p:nvGraphicFramePr>
          <p:cNvPr id="13" name="Tabla comparativa Window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Aspecto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BIND9 + Unbound (nosotros)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Windows Server DNS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Costo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Software libre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Licencia de Windows Server + CAL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Zonas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Archivos de texto, versionables en Git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Integradas en Active Directory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Replicación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AXFR/IXFR + NOTIFY, por serial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Replicación de AD (multimaestro)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Seguridad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TSIG hmac-sha256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Servidores listados; updates seguros (AD)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Validación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named-checkconf / named-checkzone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Consola DNS y PowerShell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Filtrado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RPZ estándar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Directivas DNS (desde 2016)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Roles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Autoritativo y resolutor separados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 mismo servidor hace ambos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Si el colegio adopta Active Directory: Windows DNS para la zona interna y Unbound como resolutor.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y seguridad</a:t>
            </a:r>
            <a:endParaRPr lang="en-US" sz="3000" dirty="0"/>
          </a:p>
        </p:txBody>
      </p:sp>
      <p:sp>
        <p:nvSpPr>
          <p:cNvPr id="4" name="Tarjeta Para qué la usamos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unto Para qué la usamos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Para qué la usamos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Sintaxis de BIND, Unbound y DNSControl.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Hipótesis para el SERVFAIL, la RPZ y el ❌ de caché.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Borrador del informe y de los diagramas.</a:t>
            </a:r>
            <a:endParaRPr lang="en-US" sz="1400" dirty="0"/>
          </a:p>
        </p:txBody>
      </p:sp>
      <p:sp>
        <p:nvSpPr>
          <p:cNvPr id="8" name="Tarjeta Cómo la verificamos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Cómo la verificamos"/>
          <p:cNvSpPr/>
          <p:nvPr/>
        </p:nvSpPr>
        <p:spPr>
          <a:xfrm>
            <a:off x="457200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Cómo la verificamos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respuesta se comprobó con dig, tcpdump, named-checkzone, journalctl o el verificador.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Datos de dominios reales: siempre con dig, nunca "de memoria".</a:t>
            </a:r>
            <a:endParaRPr lang="en-US" sz="1400" dirty="0"/>
          </a:p>
        </p:txBody>
      </p:sp>
      <p:sp>
        <p:nvSpPr>
          <p:cNvPr id="12" name="Tarjeta Lo que no se hizo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Lo que no se hizo"/>
          <p:cNvSpPr/>
          <p:nvPr/>
        </p:nvSpPr>
        <p:spPr>
          <a:xfrm>
            <a:off x="836676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 que no se hizo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Pegar el secreto TSIG o archivos .key.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Abrir el resolutor a cualquier IP.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Subir tokens: .gitignore excluye transferencia.key, creds.reales.json y *.pcap.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para la defensa</a:t>
            </a:r>
            <a:endParaRPr lang="en-US" sz="3000" dirty="0"/>
          </a:p>
        </p:txBody>
      </p:sp>
      <p:graphicFrame>
        <p:nvGraphicFramePr>
          <p:cNvPr id="15" name="Tabla de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194560"/>
                <a:gridCol w="26517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Qué explica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Apoyo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Integrante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Arquitectura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 red_dns, jerarquía DNS y dig +trace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Diapositivas 2–3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Lucas Carrasco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Registros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Zona directa, inversa, punto final y $ORIGIN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Diapositivas 5 y 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Jacqueline Cáceres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Sincronización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Secundario, TSIG, NOTIFY y serial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Diapositivas 7–8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José María Orihuela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Resolutor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Unbound, DNSSEC, DoT, RPZ y cliente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Diapositivas 9–10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Lizeth Rodríguez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Diagnóstico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Validación, verificadores y errores encontrados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Diapositivas 4, 6 y 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Juniors Parapaino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Limber Quispe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horizonte.internal resuelve desde el cliente, de punta a punta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Dos autoritativos sincronizados con TSIG · validación antes de aplicar · resolutor privado con DNSSEC, DoT y RPZ</a:t>
            </a:r>
            <a:endParaRPr lang="en-US" sz="20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Repositorio: github.com/Grupo-Sin-Hosting/Actividad-02-DNS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Lecciones: leer los avisos, subir el serial en cada cambio, no exponer secretos y comprobar cada hipótesis con un comando.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NS Horizonte">
  <a:themeElements>
    <a:clrScheme name="DNS Horizonte">
      <a:dk1>
        <a:srgbClr val="1B2430"/>
      </a:dk1>
      <a:lt1>
        <a:srgbClr val="FFFFFF"/>
      </a:lt1>
      <a:dk2>
        <a:srgbClr val="0F2E4C"/>
      </a:dk2>
      <a:lt2>
        <a:srgbClr val="EEF3F9"/>
      </a:lt2>
      <a:accent1>
        <a:srgbClr val="1D4E89"/>
      </a:accent1>
      <a:accent2>
        <a:srgbClr val="C25E0A"/>
      </a:accent2>
      <a:accent3>
        <a:srgbClr val="2E7D32"/>
      </a:accent3>
      <a:accent4>
        <a:srgbClr val="5A6672"/>
      </a:accent4>
      <a:accent5>
        <a:srgbClr val="B8C4D2"/>
      </a:accent5>
      <a:accent6>
        <a:srgbClr val="A33B0B"/>
      </a:accent6>
      <a:hlink>
        <a:srgbClr val="1D4E89"/>
      </a:hlink>
      <a:folHlink>
        <a:srgbClr val="5A6672"/>
      </a:folHlink>
    </a:clrScheme>
    <a:fontScheme name="DNS Horizo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 moderno con BIND9 — Actividad 02</dc:title>
  <dc:subject>PptxGenJS Presentation</dc:subject>
  <dc:creator>Grupo Sin Hosting</dc:creator>
  <cp:lastModifiedBy>Grupo Sin Hosting</cp:lastModifiedBy>
  <cp:revision>1</cp:revision>
  <dcterms:created xsi:type="dcterms:W3CDTF">2026-10-18T19:48:45Z</dcterms:created>
  <dcterms:modified xsi:type="dcterms:W3CDTF">2026-10-18T19:48:45Z</dcterms:modified>
</cp:coreProperties>
</file>